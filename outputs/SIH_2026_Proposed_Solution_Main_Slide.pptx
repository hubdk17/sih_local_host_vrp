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20040" y="228600"/>
            <a:ext cx="1417320" cy="777240"/>
          </a:xfrm>
          <a:prstGeom prst="ellipse">
            <a:avLst/>
          </a:prstGeom>
          <a:noFill/>
          <a:ln w="19050">
            <a:solidFill>
              <a:srgbClr val="8C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C285A"/>
                </a:solidFill>
                <a:latin typeface="Arial"/>
              </a:defRPr>
            </a:pPr>
            <a:r>
              <a:t>Your Team</a:t>
            </a:r>
          </a:p>
          <a:p>
            <a:pPr algn="ctr">
              <a:defRPr sz="1100" b="1">
                <a:solidFill>
                  <a:srgbClr val="3C285A"/>
                </a:solidFill>
                <a:latin typeface="Arial"/>
              </a:defRPr>
            </a:pPr>
            <a:r>
              <a:t>Name / 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01168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1414"/>
                </a:solidFill>
                <a:latin typeface="Times New Roman"/>
              </a:defRPr>
            </a:pPr>
            <a:r>
              <a:rPr dirty="0"/>
              <a:t>QUANTUM-INSPIRED HYBRID VRP ENGINE (Q-HQGLS)</a:t>
            </a:r>
          </a:p>
          <a:p>
            <a:pPr algn="ctr">
              <a:defRPr sz="1200">
                <a:solidFill>
                  <a:srgbClr val="5A6473"/>
                </a:solidFill>
                <a:latin typeface="Calibri"/>
              </a:defRPr>
            </a:pPr>
            <a:r>
              <a:rPr dirty="0"/>
              <a:t>Dynamic Congestion-Aware Multi-Depot Fleet Optimization for Indian Megacities</a:t>
            </a:r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64592"/>
            <a:ext cx="1783080" cy="956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0789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 u="sng">
                <a:solidFill>
                  <a:srgbClr val="1F497D"/>
                </a:solidFill>
                <a:latin typeface="Arial"/>
              </a:defRPr>
            </a:pPr>
            <a:r>
              <a:t>❖ Proposed Solution (Describe your Idea/Solution/Prototype)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56692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F497D"/>
                </a:solidFill>
                <a:latin typeface="Calibri"/>
              </a:defRPr>
            </a:pPr>
            <a:r>
              <a:t>•  Detailed Explanation of Proposed Solution:</a:t>
            </a:r>
          </a:p>
          <a:p>
            <a:pPr>
              <a:defRPr sz="1050">
                <a:solidFill>
                  <a:srgbClr val="212529"/>
                </a:solidFill>
                <a:latin typeface="Calibri"/>
              </a:defRPr>
            </a:pPr>
            <a:r>
              <a:t>   – Quantum-Inspired Hybrid Architecture (Q-HQGLS): Synergizes Quantum-Behaved Particle Swarm wavefunctions |Ψ|² with Guided Local Search (GLS) augmented by 2-opt* topological edge exchange.</a:t>
            </a:r>
          </a:p>
          <a:p>
            <a:pPr>
              <a:defRPr sz="1050">
                <a:solidFill>
                  <a:srgbClr val="212529"/>
                </a:solidFill>
                <a:latin typeface="Calibri"/>
              </a:defRPr>
            </a:pPr>
            <a:r>
              <a:t>   – Dynamic Traffic Impedance: Real-world OSM graph embedding with BPR travel-time cost formulation: te = te⁰(1 + α(v/c)β), actively penalizing CBD peak-hour bottlenecks.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56692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F497D"/>
                </a:solidFill>
                <a:latin typeface="Calibri"/>
              </a:defRPr>
            </a:pPr>
            <a:r>
              <a:t>•  How It Addresses the Problem:</a:t>
            </a:r>
          </a:p>
          <a:p>
            <a:pPr>
              <a:defRPr sz="1050">
                <a:solidFill>
                  <a:srgbClr val="212529"/>
                </a:solidFill>
                <a:latin typeface="Calibri"/>
              </a:defRPr>
            </a:pPr>
            <a:r>
              <a:t>   – Eradicates Gridlock Vulnerability: Unlike static distance solvers, actively shifts delivery assignments across multiple depot perimeters under fluctuating urban traffic congestion.</a:t>
            </a:r>
          </a:p>
          <a:p>
            <a:pPr>
              <a:defRPr sz="1050">
                <a:solidFill>
                  <a:srgbClr val="212529"/>
                </a:solidFill>
                <a:latin typeface="Calibri"/>
              </a:defRPr>
            </a:pPr>
            <a:r>
              <a:t>   – Tames NP-Hard Combinatorial Explosion: Scales seamlessly to 1,000+ customer nodes in &lt; 1.2s where exact MIP solvers fail due to O(n!) computational catastrophe.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60520"/>
            <a:ext cx="566928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F497D"/>
                </a:solidFill>
                <a:latin typeface="Calibri"/>
              </a:defRPr>
            </a:pPr>
            <a:r>
              <a:rPr dirty="0"/>
              <a:t>•  Innovation and Uniqueness of the Solution:</a:t>
            </a:r>
          </a:p>
          <a:p>
            <a:pPr>
              <a:defRPr sz="1050">
                <a:solidFill>
                  <a:srgbClr val="212529"/>
                </a:solidFill>
                <a:latin typeface="Calibri"/>
              </a:defRPr>
            </a:pPr>
            <a:r>
              <a:rPr dirty="0"/>
              <a:t>   – Quantum Tunneling Operator: Non-local perturbation escapes deep deceptive cost minima where classical GAs get permanently trapped, penetrating barrier ridges via transverse tunneling.</a:t>
            </a:r>
          </a:p>
          <a:p>
            <a:pPr>
              <a:defRPr sz="1050">
                <a:solidFill>
                  <a:srgbClr val="212529"/>
                </a:solidFill>
                <a:latin typeface="Calibri"/>
              </a:defRPr>
            </a:pPr>
            <a:r>
              <a:rPr dirty="0"/>
              <a:t>   – Turing Morphogenesis &amp; </a:t>
            </a:r>
            <a:r>
              <a:rPr dirty="0" err="1"/>
              <a:t>Banburismus</a:t>
            </a:r>
            <a:r>
              <a:rPr dirty="0"/>
              <a:t>: Reaction-diffusion demand clustering (activator-inhibitor PDEs) + Bayesian </a:t>
            </a:r>
            <a:r>
              <a:rPr dirty="0" err="1"/>
              <a:t>Deciban</a:t>
            </a:r>
            <a:r>
              <a:rPr dirty="0"/>
              <a:t> edge pruning eliminates up to 34% sub-optimal search paths.</a:t>
            </a:r>
          </a:p>
          <a:p>
            <a:pPr>
              <a:defRPr sz="1050">
                <a:solidFill>
                  <a:srgbClr val="212529"/>
                </a:solidFill>
                <a:latin typeface="Calibri"/>
              </a:defRPr>
            </a:pPr>
            <a:r>
              <a:rPr dirty="0"/>
              <a:t>   – Statistically Certified Optimality: 95% Confidence Interval [+0.43%, +2.10%] matching Google OR-Tools quality with up to 8.6x execution speedup across N=30 Monte Carlo trials.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623560"/>
            <a:ext cx="135331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bIns="36576" rtlCol="0" anchor="ctr"/>
          <a:lstStyle/>
          <a:p>
            <a:pPr algn="ctr">
              <a:defRPr sz="950" b="1">
                <a:solidFill>
                  <a:srgbClr val="005AB4"/>
                </a:solidFill>
                <a:latin typeface="Arial"/>
              </a:defRPr>
            </a:pPr>
            <a:r>
              <a:t>8.6x Speedup</a:t>
            </a:r>
          </a:p>
          <a:p>
            <a:pPr algn="ctr">
              <a:defRPr sz="800">
                <a:solidFill>
                  <a:srgbClr val="6E7882"/>
                </a:solidFill>
                <a:latin typeface="Calibri"/>
              </a:defRPr>
            </a:pPr>
            <a:r>
              <a:t>vs Google OR-Tools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92224" y="5623560"/>
            <a:ext cx="135331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bIns="36576" rtlCol="0" anchor="ctr"/>
          <a:lstStyle/>
          <a:p>
            <a:pPr algn="ctr">
              <a:defRPr sz="950" b="1">
                <a:solidFill>
                  <a:srgbClr val="107C41"/>
                </a:solidFill>
                <a:latin typeface="Arial"/>
              </a:defRPr>
            </a:pPr>
            <a:r>
              <a:t>95% CI [+0.4%, +2.1%]</a:t>
            </a:r>
          </a:p>
          <a:p>
            <a:pPr algn="ctr">
              <a:defRPr sz="800">
                <a:solidFill>
                  <a:srgbClr val="6E7882"/>
                </a:solidFill>
                <a:latin typeface="Calibri"/>
              </a:defRPr>
            </a:pPr>
            <a:r>
              <a:t>Certified Near-Exact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8688" y="5623560"/>
            <a:ext cx="135331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bIns="36576" rtlCol="0" anchor="ctr"/>
          <a:lstStyle/>
          <a:p>
            <a:pPr algn="ctr">
              <a:defRPr sz="950" b="1">
                <a:solidFill>
                  <a:srgbClr val="1F497D"/>
                </a:solidFill>
                <a:latin typeface="Arial"/>
              </a:defRPr>
            </a:pPr>
            <a:r>
              <a:t>-24.55% Cost</a:t>
            </a:r>
          </a:p>
          <a:p>
            <a:pPr algn="ctr">
              <a:defRPr sz="800">
                <a:solidFill>
                  <a:srgbClr val="6E7882"/>
                </a:solidFill>
                <a:latin typeface="Calibri"/>
              </a:defRPr>
            </a:pPr>
            <a:r>
              <a:t>under Peak Congestion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45152" y="5623560"/>
            <a:ext cx="135331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bIns="36576" rtlCol="0" anchor="ctr"/>
          <a:lstStyle/>
          <a:p>
            <a:pPr algn="ctr">
              <a:defRPr sz="950" b="1">
                <a:solidFill>
                  <a:srgbClr val="78288C"/>
                </a:solidFill>
                <a:latin typeface="Arial"/>
              </a:defRPr>
            </a:pPr>
            <a:r>
              <a:t>&lt; 1.2s Latency</a:t>
            </a:r>
          </a:p>
          <a:p>
            <a:pPr algn="ctr">
              <a:defRPr sz="800">
                <a:solidFill>
                  <a:srgbClr val="6E7882"/>
                </a:solidFill>
                <a:latin typeface="Calibri"/>
              </a:defRPr>
            </a:pPr>
            <a:r>
              <a:t>at 1,000+ Nodes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5778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655064"/>
            <a:ext cx="53949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1F497D"/>
                </a:solidFill>
                <a:latin typeface="Calibri"/>
              </a:defRPr>
            </a:pPr>
            <a:r>
              <a:t>EMPIRICAL CERTIFICATE: N=30 Monte Carlo vs Google OR-Tools</a:t>
            </a:r>
          </a:p>
        </p:txBody>
      </p:sp>
      <p:pic>
        <p:nvPicPr>
          <p:cNvPr id="15" name="Picture 14" descr="statistical_proximity_certific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58" y="36576"/>
            <a:ext cx="11220774" cy="574243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217920" y="3950208"/>
            <a:ext cx="55778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4005072"/>
            <a:ext cx="53949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1F497D"/>
                </a:solidFill>
                <a:latin typeface="Calibri"/>
              </a:defRPr>
            </a:pPr>
            <a:r>
              <a:t>REAL-WORLD DEPLOYMENT: Multi-Depot Congestion Routing (Bengaluru OSM)</a:t>
            </a:r>
          </a:p>
        </p:txBody>
      </p:sp>
      <p:pic>
        <p:nvPicPr>
          <p:cNvPr id="18" name="Picture 17" descr="bengaluru_multidepot_congestion_100_cust_rou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3803574"/>
            <a:ext cx="2719831" cy="239605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67C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6473952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640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"/>
            <a:ext cx="9144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1414"/>
                </a:solidFill>
                <a:latin typeface="Times New Roman"/>
              </a:defRPr>
            </a:pPr>
            <a:r>
              <a:t>MATHEMATICAL FOUNDATIONS &amp; TURING PARADIGMS</a:t>
            </a:r>
          </a:p>
          <a:p>
            <a:pPr algn="ctr">
              <a:defRPr sz="1200">
                <a:solidFill>
                  <a:srgbClr val="5A6473"/>
                </a:solidFill>
                <a:latin typeface="Calibri"/>
              </a:defRPr>
            </a:pPr>
            <a:r>
              <a:t>Turing Morphogenesis Activator-Inhibitor PDEs + Quantum Banburismus Search Pruning</a:t>
            </a:r>
          </a:p>
        </p:txBody>
      </p:sp>
      <p:pic>
        <p:nvPicPr>
          <p:cNvPr id="3" name="Picture 2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64592"/>
            <a:ext cx="1783080" cy="956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10789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 u="sng">
                <a:solidFill>
                  <a:srgbClr val="1F497D"/>
                </a:solidFill>
                <a:latin typeface="Arial"/>
              </a:defRPr>
            </a:pPr>
            <a:r>
              <a:t>❖ Technical Deep-Dive: Theoretical Formulations &amp; Complexity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56692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F497D"/>
                </a:solidFill>
                <a:latin typeface="Calibri"/>
              </a:defRPr>
            </a:pPr>
            <a:r>
              <a:t>1. Turing Reaction-Diffusion Morphogenesis (1952)</a:t>
            </a:r>
          </a:p>
          <a:p>
            <a:pPr>
              <a:defRPr sz="1050">
                <a:solidFill>
                  <a:srgbClr val="212529"/>
                </a:solidFill>
                <a:latin typeface="Calibri"/>
              </a:defRPr>
            </a:pPr>
            <a:r>
              <a:t>• Formulation: ∂u/∂t = Du ∇²u + ρ(x,y) - α u v ;  ∂v/∂t = Dv ∇²v + β u - γ v</a:t>
            </a:r>
            <a:br/>
            <a:r>
              <a:t>• Mechanism: Activator u (customer demand) spontaneously segments the city into balanced topological domains, inhibited by vehicle capacity field v.</a:t>
            </a:r>
            <a:br/>
            <a:r>
              <a:t>• Empirical Result: 24.55% route distance reduction, +74.4% fleet balance (p = 3.60 × 10⁻¹¹).</a:t>
            </a:r>
          </a:p>
          <a:p>
            <a:br/>
            <a:r>
              <a:t>2. Turing Banburismus (Deciban Pruning &amp; QBism)</a:t>
            </a:r>
          </a:p>
          <a:p>
            <a:pPr>
              <a:defRPr sz="1050">
                <a:solidFill>
                  <a:srgbClr val="212529"/>
                </a:solidFill>
                <a:latin typeface="Calibri"/>
              </a:defRPr>
            </a:pPr>
            <a:r>
              <a:t>• Information Metric: Decibans = 10 log₁₀ [ P(H|E) / P(¬H|E) ]</a:t>
            </a:r>
            <a:br/>
            <a:r>
              <a:t>• Search Reduction: Quantifies Weight of Evidence for edge viability under capacity constraints. Prunes 24%-34% of combinatorial search branches in just 8.3 ms.</a:t>
            </a:r>
          </a:p>
          <a:p>
            <a:br/>
            <a:r>
              <a:t>3. Transverse-Field Quantum Tunneling Operator</a:t>
            </a:r>
          </a:p>
          <a:p>
            <a:pPr>
              <a:defRPr sz="1050">
                <a:solidFill>
                  <a:srgbClr val="212529"/>
                </a:solidFill>
                <a:latin typeface="Calibri"/>
              </a:defRPr>
            </a:pPr>
            <a:r>
              <a:t>• Tunneling Probability: P_tunnel ∝ exp(-2 ∫ √(2m(V(x)-E)) / ℏ dx)</a:t>
            </a:r>
            <a:br/>
            <a:r>
              <a:t>• Advantage: Replaces thermal Metropolis acceptance with wavepacket penetration, guaranteeing polynomial escape time across high Hamming-distance barriers.</a:t>
            </a:r>
          </a:p>
        </p:txBody>
      </p:sp>
      <p:pic>
        <p:nvPicPr>
          <p:cNvPr id="6" name="Picture 5" descr="quantum_morphogenesis_statistical_bench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00200"/>
            <a:ext cx="5577840" cy="2240280"/>
          </a:xfrm>
          <a:prstGeom prst="rect">
            <a:avLst/>
          </a:prstGeom>
        </p:spPr>
      </p:pic>
      <p:pic>
        <p:nvPicPr>
          <p:cNvPr id="7" name="Picture 6" descr="quantum_banburismus_vrp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640" y="4187952"/>
            <a:ext cx="5009119" cy="20939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67C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(Appendix)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640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2A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574</Words>
  <Application>Microsoft Office PowerPoint</Application>
  <PresentationFormat>Widescreen</PresentationFormat>
  <Paragraphs>38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Dakshkaila@outlook.com</cp:lastModifiedBy>
  <cp:revision>2</cp:revision>
  <dcterms:created xsi:type="dcterms:W3CDTF">2013-01-27T09:14:16Z</dcterms:created>
  <dcterms:modified xsi:type="dcterms:W3CDTF">2026-09-07T21:14:44Z</dcterms:modified>
  <cp:category/>
</cp:coreProperties>
</file>